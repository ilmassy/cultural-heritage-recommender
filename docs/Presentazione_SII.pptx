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21"/>
    <p:sldId id="269" r:id="rId2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438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2438"/>
                </a:solidFill>
                <a:latin typeface="Arial"/>
              </a:rPr>
              <a:t>Pesi dei criteri nel ground truth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2F5D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Tag</c:v>
                  </c:pt>
                  <c:pt idx="1">
                    <c:v>Nazionalità</c:v>
                  </c:pt>
                  <c:pt idx="2">
                    <c:v>Periodo</c:v>
                  </c:pt>
                  <c:pt idx="3">
                    <c:v>Classificazione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438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2438"/>
                </a:solidFill>
                <a:latin typeface="Arial"/>
              </a:rPr>
              <a:t>Precision@10 (50 utenti, seed 42)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P@10</c:v>
                </c:pt>
              </c:strCache>
            </c:strRef>
          </c:tx>
          <c:spPr>
            <a:solidFill>
              <a:srgbClr val="2F5D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D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0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7A4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2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3A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TF-IDF con periodo</c:v>
                  </c:pt>
                  <c:pt idx="1">
                    <c:v>TF-IDF senza periodo</c:v>
                  </c:pt>
                  <c:pt idx="2">
                    <c:v>Solo periodo</c:v>
                  </c:pt>
                  <c:pt idx="3">
                    <c:v>CLIP puro (α = 0.5)</c:v>
                  </c:pt>
                  <c:pt idx="4">
                    <c:v>Random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0.588</c:v>
                </c:pt>
                <c:pt idx="1">
                  <c:v>0.432</c:v>
                </c:pt>
                <c:pt idx="2">
                  <c:v>0.354</c:v>
                </c:pt>
                <c:pt idx="3">
                  <c:v>0.164</c:v>
                </c:pt>
                <c:pt idx="4">
                  <c:v>0.049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B24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438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2438"/>
                </a:solidFill>
                <a:latin typeface="Arial"/>
              </a:rPr>
              <a:t>Top-1 TF-IDF con almeno un token in comune col profilo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Utenti</c:v>
                </c:pt>
              </c:strCache>
            </c:strRef>
          </c:tx>
          <c:spPr>
            <a:solidFill>
              <a:srgbClr val="2F5D9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D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D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5A1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Tag</c:v>
                  </c:pt>
                  <c:pt idx="1">
                    <c:v>Classificazione</c:v>
                  </c:pt>
                  <c:pt idx="2">
                    <c:v>Nazionalità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</c:v>
                </c:pt>
                <c:pt idx="1">
                  <c:v>0.92</c:v>
                </c:pt>
                <c:pt idx="2">
                  <c:v>0.64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1B24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un confronto controllato tra due recommender content-based per il cultural heritage, valutati su profili sintetici perché il MET non fornisce interazioni utente.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Senza rating né visite il collaborative filtering non ha input: da qui la scelta content-based e i profili sintetici.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affermazione finale del report è ancorata a una di queste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TF-IDF vede solo parole uguali; CLIP dovrebbe legare concetti affini. Entrambi ricevono lo stesso boost temporale per un confronto equo.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ground truth è funzione dei metadati: è la prima minaccia alla validità, e la quantifichiamo invece di ignorarla.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Metriche sul top-10; la recall è limitata a 0.10, quindi si riporta soprattutto la Precision@10. 58 test unitari coprono metriche 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0.588 è un limite superiore ottimistico, perché include il periodo. Il numero più difendibile per il solo contenuto è 0.432.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solo periodo è la porzione di ground truth che i modelli conoscono in anticipo. La differenza tra TF-IDF senza periodo e solo periodo non è dimostrata.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Soglia di Bonferroni sugli 11 test: 0.0045. Restano significativi i confronti 3, 6, 7, 8 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massimo a α = 0.2 è un effetto di selezione post hoc: lo abbiamo verificato fuori campione su 10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cifre a seed 42 sono un po' ottimistiche per tutti i modelli; l'ordinamento dei modelli invece resta stabile.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nazionalità pesa 0.25 nel ground truth ma influenza il ranking molto meno. Le cause strutturali sono ipotesi non ancora verificate.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valore del lavoro sta nel modo di leggere i numeri: osservato contro dimostrato.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Ringrazio e rimando al repository per codice, risultati e report completo; resto a disposizione per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repository contiene codice, risultati e report completo; tutto è riproducibile con i comandi del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hyperlink" Target="https://github.com/ilMassy/cultural-heritage-recommender" TargetMode="Externa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ilMassy/cultural-heritage-recommender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097280"/>
            <a:ext cx="3840480" cy="3840480"/>
          </a:xfrm>
          <a:prstGeom prst="ellipse">
            <a:avLst/>
          </a:prstGeom>
          <a:solidFill>
            <a:srgbClr val="2F5D9E">
              <a:alpha val="65000"/>
            </a:srgbClr>
          </a:solidFill>
          <a:ln w="12700">
            <a:solidFill>
              <a:srgbClr val="2F5D9E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3291840"/>
            <a:ext cx="2560320" cy="2560320"/>
          </a:xfrm>
          <a:prstGeom prst="ellipse">
            <a:avLst/>
          </a:prstGeom>
          <a:solidFill>
            <a:srgbClr val="D9722E">
              <a:alpha val="75000"/>
            </a:srgbClr>
          </a:solidFill>
          <a:ln w="12700">
            <a:solidFill>
              <a:srgbClr val="D9722E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38160" y="4480560"/>
            <a:ext cx="1371600" cy="1371600"/>
          </a:xfrm>
          <a:prstGeom prst="ellipse">
            <a:avLst/>
          </a:prstGeom>
          <a:solidFill>
            <a:srgbClr val="3A9A5B">
              <a:alpha val="70000"/>
            </a:srgbClr>
          </a:solidFill>
          <a:ln w="12700">
            <a:solidFill>
              <a:srgbClr val="3A9A5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2743200" y="704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INTELLIGENTI PER INTERNET · ROMA TRE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Raccomandare opere d'arte nel cultural heritage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contro CLIP su dati MET Open Access, con profili utente sintetici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Massimiliano Giangreco · Matricola 561883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Giuseppe Sansonetti · Settembre 2026</a:t>
            </a:r>
            <a:endParaRPr lang="en-US" sz="1600" dirty="0"/>
          </a:p>
        </p:txBody>
      </p:sp>
      <p:sp>
        <p:nvSpPr>
          <p:cNvPr id="10" name="Logo card"/>
          <p:cNvSpPr/>
          <p:nvPr/>
        </p:nvSpPr>
        <p:spPr>
          <a:xfrm>
            <a:off x="731520" y="41148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Logo Roma Tre" descr="Logo Università degli Studi Roma T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3518"/>
            <a:ext cx="1554480" cy="856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1810512"/>
            <a:ext cx="640080" cy="640080"/>
          </a:xfrm>
          <a:prstGeom prst="ellipse">
            <a:avLst/>
          </a:prstGeom>
          <a:solidFill>
            <a:srgbClr val="2F5D9E"/>
          </a:solidFill>
          <a:ln w="12700">
            <a:solidFill>
              <a:srgbClr val="2F5D9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 espone centinaia di migliaia di opere: nessun visitatore può esplorarle tutte.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61688" y="155448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36008" y="1810512"/>
            <a:ext cx="640080" cy="640080"/>
          </a:xfrm>
          <a:prstGeom prst="ellipse">
            <a:avLst/>
          </a:prstGeom>
          <a:solidFill>
            <a:srgbClr val="B85A1A"/>
          </a:solidFill>
          <a:ln w="12700">
            <a:solidFill>
              <a:srgbClr val="B85A1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63600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36008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interazione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36008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museo pubblica metadati e immagini, non rating né visite: il collaborative filtering non ha input.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74736" y="155448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449056" y="1810512"/>
            <a:ext cx="640080" cy="640080"/>
          </a:xfrm>
          <a:prstGeom prst="ellipse">
            <a:avLst/>
          </a:prstGeom>
          <a:solidFill>
            <a:srgbClr val="2B7A47"/>
          </a:solidFill>
          <a:ln w="12700">
            <a:solidFill>
              <a:srgbClr val="2B7A4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4490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449056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 content-based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49056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raccomandano opere vicine alle preferenze dichiarate, usando solo i contenuti delle opere.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16223B"/>
          </a:solidFill>
          <a:ln w="9525">
            <a:solidFill>
              <a:srgbClr val="1622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rappresentazione dei contenuti funziona meglio: lessicale (TF-IDF) o semantica (CLIP)?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Cinque domande di ricerca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31520" y="1563624"/>
            <a:ext cx="603504" cy="603504"/>
          </a:xfrm>
          <a:prstGeom prst="ellipse">
            <a:avLst/>
          </a:prstGeom>
          <a:solidFill>
            <a:srgbClr val="2F5D9E"/>
          </a:solidFill>
          <a:ln w="12700">
            <a:solidFill>
              <a:srgbClr val="2F5D9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1563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46304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TF-IDF supera le baseline banali (random, popolarità)?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31520" y="2523744"/>
            <a:ext cx="603504" cy="603504"/>
          </a:xfrm>
          <a:prstGeom prst="ellipse">
            <a:avLst/>
          </a:prstGeom>
          <a:solidFill>
            <a:srgbClr val="2F5D9E"/>
          </a:solidFill>
          <a:ln w="12700">
            <a:solidFill>
              <a:srgbClr val="2F5D9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31520" y="25237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42316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parte del risultato dipende dal termine periodo, condiviso con il ground truth?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31520" y="3483864"/>
            <a:ext cx="603504" cy="603504"/>
          </a:xfrm>
          <a:prstGeom prst="ellipse">
            <a:avLst/>
          </a:prstGeom>
          <a:solidFill>
            <a:srgbClr val="B85A1A"/>
          </a:solidFill>
          <a:ln w="12700">
            <a:solidFill>
              <a:srgbClr val="B85A1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31520" y="34838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38328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è competitivo con il TF-IDF? Il segnale viene dal testo o dall'immagine?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31520" y="4443984"/>
            <a:ext cx="603504" cy="603504"/>
          </a:xfrm>
          <a:prstGeom prst="ellipse">
            <a:avLst/>
          </a:prstGeom>
          <a:solidFill>
            <a:srgbClr val="B85A1A"/>
          </a:solidFill>
          <a:ln w="12700">
            <a:solidFill>
              <a:srgbClr val="B85A1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31520" y="4443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34340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risultati sono robusti rispetto ad α, k e al campione di utenti?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53035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31520" y="5404104"/>
            <a:ext cx="603504" cy="603504"/>
          </a:xfrm>
          <a:prstGeom prst="ellipse">
            <a:avLst/>
          </a:prstGeom>
          <a:solidFill>
            <a:srgbClr val="2B7A47"/>
          </a:solidFill>
          <a:ln w="12700">
            <a:solidFill>
              <a:srgbClr val="2B7A47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31520" y="5404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303520"/>
            <a:ext cx="9784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 può spiegare del comportamento dei modelli, e dove falliscono?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modelli a confronto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6868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lessicale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 metadati: nazionalità, classificazione, tag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conteggio × IDF smussato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coseno profilo–opera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Spiegabile: il coseno si scompone per token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· semantico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3774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ViT-B/32, embedding a 512 dimensioni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utente è confrontato con testo e immagine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mescola immagine (1) e testo (0)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 concetti affini senza parole in comune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87568" y="2926080"/>
            <a:ext cx="548640" cy="548640"/>
          </a:xfrm>
          <a:prstGeom prst="ellipse">
            <a:avLst/>
          </a:prstGeom>
          <a:solidFill>
            <a:srgbClr val="16223B"/>
          </a:solidFill>
          <a:ln w="12700">
            <a:solidFill>
              <a:srgbClr val="16223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687568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223B"/>
          </a:solidFill>
          <a:ln w="9525">
            <a:solidFill>
              <a:srgbClr val="1622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finale: (1 − w) · similarità + w · boost periodo, con w = 0.15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 e profili sintetici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dipinti European Paintings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54680" y="155448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8328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nazionalità degli artisti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3474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527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distinti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154680" y="333756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383280" y="3474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utente sintetici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166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Rilevanti: il top 5% per affinità, cioè 100 opere per utente.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43600" y="146304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19" name="Chart 0" descr=""/>
          <p:cNvGraphicFramePr/>
          <p:nvPr/>
        </p:nvGraphicFramePr>
        <p:xfrm>
          <a:off x="6126480" y="155448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DF1E7"/>
          </a:solidFill>
          <a:ln w="9525">
            <a:solidFill>
              <a:srgbClr val="E9C9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Circolarità: ground truth e modelli condividono il termine periodo.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 protocollo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5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MET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dipinti, CC0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14600" y="2240280"/>
            <a:ext cx="274320" cy="365760"/>
          </a:xfrm>
          <a:prstGeom prst="rightArrow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8346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971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utenti, top 5%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00600" y="2240280"/>
            <a:ext cx="274320" cy="365760"/>
          </a:xfrm>
          <a:prstGeom prst="rightArrow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206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257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popolarità, solo periodo, TF-IDF, CLIP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86600" y="2240280"/>
            <a:ext cx="274320" cy="365760"/>
          </a:xfrm>
          <a:prstGeom prst="rightArrow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4066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543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P@10, R@10, NDCG@10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72600" y="2240280"/>
            <a:ext cx="274320" cy="365760"/>
          </a:xfrm>
          <a:prstGeom prst="rightArrow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6926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829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829800" y="21945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e bootstrap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82296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(w = 0, 0.15, 1), α, k e 11 confronti appaiati.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61688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4636008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Robustezza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4636008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 di profili, mai usati per scegliere gli iperparametri.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174736" y="36576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8449056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Affidabilità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449056" y="4434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condivise in un solo modulo, equivalenza verificata su 2000 casi.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Risultato principale: TF-IDF supera CLIP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F5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0.588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 del TF-IDF, contro 0.302 di CLIP (seed 42).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12 volte il caso (random 0.049)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10 seed: 0.555 contro 0.278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Popolarità vicina al caso (0.061 e 0.040)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1371600"/>
            <a:ext cx="71323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0" descr="Precision@10 per model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641667"/>
            <a:ext cx="6858000" cy="4306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periodo è un confondente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5836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6" name="Chart 0" descr=""/>
          <p:cNvGraphicFramePr/>
          <p:nvPr/>
        </p:nvGraphicFramePr>
        <p:xfrm>
          <a:off x="731520" y="155448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4630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77240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periodo: 0.354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7 volte il caso, senza alcun contenuto.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98080" y="30632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777240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non dimostrato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77240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+0.078, IC [−0.012, +0.170], p = 0.134.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498080" y="46634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77240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5440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0.432 è il numero più difendibile per il contenuto.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di significatività appaiati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758952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ifferenze di Precision@10 con IC e p-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3451"/>
            <a:ext cx="7315200" cy="432261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0" y="137160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6868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Significativi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14884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supera CLIP, con e senza periodo. Il TF-IDF con periodo supera il solo periodo.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412480" y="3977640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dimostrati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686800" y="4754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contro immagine in CLIP. TF-IDF senza periodo contro solo periodo.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Testo, immagine e scelta di α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70408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Sweep di alpha per CL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5053"/>
            <a:ext cx="6766560" cy="373941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63840" y="1371600"/>
            <a:ext cx="3749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13816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o immagine?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+0.062 (p = 0.106) con periodo, +0.008 (p = 0.732) senza: non distinguibili.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863840" y="3794760"/>
            <a:ext cx="37490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13816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0.2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57200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su α = 0.5 da +0.044 in campione a circa +0.011 fuori campione.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Robustezza: seed e 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cision@10 sui seed 100-1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7340"/>
            <a:ext cx="5212080" cy="2880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3716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cision@k al variare di 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34" y="1508760"/>
            <a:ext cx="5172891" cy="30175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49377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5"/>
          <p:cNvSpPr txBox="1"/>
          <p:nvPr/>
        </p:nvSpPr>
        <p:spPr>
          <a:xfrm>
            <a:off x="822960" y="4937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sopra CLIP in 10 seed su 10, con media 0.555 contro 0.278.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126480" y="49377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400800" y="4937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k l'ordine TF-IDF &gt; {periodo, CLIP} è stabile. Tra periodo e CLIP dipende da k.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Spiegabilità: il gap sulla nazionalità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6" name="Chart 0" descr=""/>
          <p:cNvGraphicFramePr/>
          <p:nvPr/>
        </p:nvGraphicFramePr>
        <p:xfrm>
          <a:off x="731520" y="155448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146304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22376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Scomposizione esatta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coseno TF-IDF si scompone per token e per categoria.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949440" y="306324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722376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Nazionalità contro tag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3840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contro 96%, McNemar p = 0.0008.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49440" y="4663440"/>
            <a:ext cx="4663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2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22376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per preferenza: un proxy, non una scomposizione.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limiti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22315A"/>
          </a:solidFill>
          <a:ln w="9525">
            <a:solidFill>
              <a:srgbClr val="3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trovato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supera CLIP in modo robusto, ma il risultato è atteso: il ground truth è costruito sui metadati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periodo è un confondente quantificato, non eliminato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e immagine in CLIP non sono distinguibili con 50 utenti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22315A"/>
          </a:solidFill>
          <a:ln w="9525">
            <a:solidFill>
              <a:srgbClr val="3B4D7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7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e prossimi passi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2402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2402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sintetici, 2000 dipinti, un solo modello CLIP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Nazionalità nel testo CLIP e prompt per preferenza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 TF-IDF + CLIP, metriche beyond-accuracy, studio con utenti reali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F5D9E"/>
          </a:solidFill>
          <a:ln w="9525">
            <a:solidFill>
              <a:srgbClr val="2F5D9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Osservato non significa dimostrato: è la chiave di lettura di tutto il lavoro.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097280"/>
            <a:ext cx="3840480" cy="3840480"/>
          </a:xfrm>
          <a:prstGeom prst="ellipse">
            <a:avLst/>
          </a:prstGeom>
          <a:solidFill>
            <a:srgbClr val="2F5D9E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291840"/>
            <a:ext cx="2560320" cy="2560320"/>
          </a:xfrm>
          <a:prstGeom prst="ellipse">
            <a:avLst/>
          </a:prstGeom>
          <a:solidFill>
            <a:srgbClr val="D9722E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4480560"/>
            <a:ext cx="1371600" cy="1371600"/>
          </a:xfrm>
          <a:prstGeom prst="ellipse">
            <a:avLst/>
          </a:prstGeom>
          <a:solidFill>
            <a:srgbClr val="3A9A5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 card"/>
          <p:cNvSpPr/>
          <p:nvPr/>
        </p:nvSpPr>
        <p:spPr>
          <a:xfrm>
            <a:off x="731520" y="41148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 Roma Tre" descr="Logo Università degli Studi Roma T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3518"/>
            <a:ext cx="1554480" cy="856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7040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spc="300">
                <a:solidFill>
                  <a:srgbClr val="9FB6DD"/>
                </a:solidFill>
                <a:latin typeface="Calibri"/>
              </a:rPr>
              <a:t>SISTEMI INTELLIGENTI PER INTERNET · ROMA 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mbria"/>
              </a:rPr>
              <a:t>Grazie per l'attenzione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Massimiliano Giangreco · Matricola 561883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D7DEEC"/>
                </a:solidFill>
                <a:latin typeface="Calibri"/>
              </a:rPr>
              <a:t>Prof. Giuseppe Sansonetti · Settembre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FB6DD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800" b="1">
                <a:solidFill>
                  <a:srgbClr val="16223B"/>
                </a:solidFill>
                <a:latin typeface="Cambria"/>
              </a:rPr>
              <a:t>Codice e risultati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16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 u="sng">
                <a:solidFill>
                  <a:srgbClr val="9FC3FF"/>
                </a:solidFill>
                <a:latin typeface="Calibri"/>
              </a:rPr>
              <a:t>https://github.com/ilMassy/cultural-heritage-recommender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3154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2F5D9E"/>
                </a:solidFill>
                <a:latin typeface="Calibri"/>
              </a:rPr>
              <a:t>src/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947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A6475"/>
                </a:solidFill>
                <a:latin typeface="Calibri"/>
              </a:rPr>
              <a:t>Codice dei recommender, metriche, ablation, test statistici e spiegabilità, con 58 test unitari.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292608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3154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B85A1A"/>
                </a:solidFill>
                <a:latin typeface="Calibri"/>
              </a:rPr>
              <a:t>results/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37947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A6475"/>
                </a:solidFill>
                <a:latin typeface="Calibri"/>
              </a:rPr>
              <a:t>Metriche, raccomandazioni, test di significatività e spiegazioni: da qui vengono tutti i numeri del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292608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31546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2B7A47"/>
                </a:solidFill>
                <a:latin typeface="Calibri"/>
              </a:rPr>
              <a:t>Report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37947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A6475"/>
                </a:solidFill>
                <a:latin typeface="Calibri"/>
              </a:rPr>
              <a:t>Metodo, risultati e analisi critica nel file Report_Finale_SII.md, con i grafici in figures/.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A647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TF-IDF contro CLIP: raccomandazione di opere d'arte</dc:title>
  <dc:subject>PptxGenJS Presentation</dc:subject>
  <dc:creator>PptxGenJS</dc:creator>
  <cp:lastModifiedBy>PptxGenJS</cp:lastModifiedBy>
  <cp:revision>1</cp:revision>
  <dcterms:created xsi:type="dcterms:W3CDTF">2026-09-30T19:19:37Z</dcterms:created>
  <dcterms:modified xsi:type="dcterms:W3CDTF">2026-09-30T19:19:37Z</dcterms:modified>
</cp:coreProperties>
</file>